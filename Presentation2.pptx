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4a" ContentType="audi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0"/>
  </p:notesMasterIdLst>
  <p:handoutMasterIdLst>
    <p:handoutMasterId r:id="rId11"/>
  </p:handoutMasterIdLst>
  <p:sldIdLst>
    <p:sldId id="257" r:id="rId5"/>
    <p:sldId id="268" r:id="rId6"/>
    <p:sldId id="273" r:id="rId7"/>
    <p:sldId id="272" r:id="rId8"/>
    <p:sldId id="274" r:id="rId9"/>
  </p:sldIdLst>
  <p:sldSz cx="12188825" cy="6858000"/>
  <p:notesSz cx="6858000" cy="9144000"/>
  <p:defaultTextStyle>
    <a:defPPr rtl="0">
      <a:defRPr lang="en-gb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340" autoAdjust="0"/>
    <p:restoredTop sz="94660"/>
  </p:normalViewPr>
  <p:slideViewPr>
    <p:cSldViewPr>
      <p:cViewPr varScale="1">
        <p:scale>
          <a:sx n="88" d="100"/>
          <a:sy n="88" d="100"/>
        </p:scale>
        <p:origin x="208" y="1008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r>
              <a:rPr lang="en-US"/>
              <a:t>1/8/2016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79429053-DC2A-4342-ADD4-2FD729D91E2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r>
              <a:rPr lang="en-US"/>
              <a:t>1/8/2016</a:t>
            </a:r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t>Click to edit Master text styles</a:t>
            </a:r>
          </a:p>
          <a:p>
            <a:pPr lvl="1" rtl="0"/>
            <a:r>
              <a:t>Second level</a:t>
            </a:r>
          </a:p>
          <a:p>
            <a:pPr lvl="2" rtl="0"/>
            <a:r>
              <a:t>Third level</a:t>
            </a:r>
          </a:p>
          <a:p>
            <a:pPr lvl="3" rtl="0"/>
            <a:r>
              <a:t>Fourth level</a:t>
            </a:r>
          </a:p>
          <a:p>
            <a:pPr lvl="4" rtl="0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3EBA5BD7-F043-4D1B-AA17-CD412FC534D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EBA5BD7-F043-4D1B-AA17-CD412FC534DE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02781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EBA5BD7-F043-4D1B-AA17-CD412FC534DE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29078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Straight Connector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bottom lin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reeform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/>
            </a:p>
          </p:txBody>
        </p:sp>
        <p:sp>
          <p:nvSpPr>
            <p:cNvPr id="10" name="Freeform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 rtlCol="0">
            <a:normAutofit/>
          </a:bodyPr>
          <a:lstStyle>
            <a:lvl1pPr>
              <a:defRPr sz="5400"/>
            </a:lvl1pPr>
          </a:lstStyle>
          <a:p>
            <a:pPr rtl="0"/>
            <a:r>
              <a:rPr lang="en-GB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 rtlCol="0"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n-GB"/>
              <a:t>Click to edit Master subtitle style</a:t>
            </a:r>
            <a:endParaRPr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1/8/2016</a:t>
            </a:r>
            <a:endParaRPr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 rtl="0"/>
            <a:r>
              <a:rPr lang="en-GB"/>
              <a:t>Click to edit Master text styles</a:t>
            </a:r>
          </a:p>
          <a:p>
            <a:pPr lvl="1" rtl="0"/>
            <a:r>
              <a:rPr lang="en-GB"/>
              <a:t>Second level</a:t>
            </a:r>
          </a:p>
          <a:p>
            <a:pPr lvl="2" rtl="0"/>
            <a:r>
              <a:rPr lang="en-GB"/>
              <a:t>Third level</a:t>
            </a:r>
          </a:p>
          <a:p>
            <a:pPr lvl="3" rtl="0"/>
            <a:r>
              <a:rPr lang="en-GB"/>
              <a:t>Fourth level</a:t>
            </a:r>
          </a:p>
          <a:p>
            <a:pPr lvl="4" rtl="0"/>
            <a:r>
              <a:rPr lang="en-GB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1/8/2016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Straight Connector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rtlCol="0" anchor="b">
            <a:normAutofit/>
          </a:bodyPr>
          <a:lstStyle>
            <a:lvl1pPr algn="l">
              <a:defRPr sz="5400" b="0" cap="none" baseline="0"/>
            </a:lvl1pPr>
          </a:lstStyle>
          <a:p>
            <a:pPr rtl="0"/>
            <a:r>
              <a:rPr lang="en-GB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rtlCol="0"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1/8/2016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 rtlCol="0"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 rtl="0"/>
            <a:r>
              <a:rPr lang="en-GB"/>
              <a:t>Click to edit Master text styles</a:t>
            </a:r>
          </a:p>
          <a:p>
            <a:pPr lvl="1" rtl="0"/>
            <a:r>
              <a:rPr lang="en-GB"/>
              <a:t>Second level</a:t>
            </a:r>
          </a:p>
          <a:p>
            <a:pPr lvl="2" rtl="0"/>
            <a:r>
              <a:rPr lang="en-GB"/>
              <a:t>Third level</a:t>
            </a:r>
          </a:p>
          <a:p>
            <a:pPr lvl="3" rtl="0"/>
            <a:r>
              <a:rPr lang="en-GB"/>
              <a:t>Fourth level</a:t>
            </a:r>
          </a:p>
          <a:p>
            <a:pPr lvl="4" rtl="0"/>
            <a:r>
              <a:rPr lang="en-GB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 rtlCol="0"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en-GB"/>
              <a:t>Click to edit Master text styles</a:t>
            </a:r>
          </a:p>
          <a:p>
            <a:pPr lvl="1" rtl="0"/>
            <a:r>
              <a:rPr lang="en-GB"/>
              <a:t>Second level</a:t>
            </a:r>
          </a:p>
          <a:p>
            <a:pPr lvl="2" rtl="0"/>
            <a:r>
              <a:rPr lang="en-GB"/>
              <a:t>Third level</a:t>
            </a:r>
          </a:p>
          <a:p>
            <a:pPr lvl="3" rtl="0"/>
            <a:r>
              <a:rPr lang="en-GB"/>
              <a:t>Fourth level</a:t>
            </a:r>
          </a:p>
          <a:p>
            <a:pPr lvl="4" rtl="0"/>
            <a:r>
              <a:rPr lang="en-GB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1/8/2016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en-GB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rtlCol="0"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 rt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 rtlCol="0"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 rtl="0"/>
            <a:r>
              <a:rPr lang="en-GB"/>
              <a:t>Click to edit Master text styles</a:t>
            </a:r>
          </a:p>
          <a:p>
            <a:pPr lvl="1" rtl="0"/>
            <a:r>
              <a:rPr lang="en-GB"/>
              <a:t>Second level</a:t>
            </a:r>
          </a:p>
          <a:p>
            <a:pPr lvl="2" rtl="0"/>
            <a:r>
              <a:rPr lang="en-GB"/>
              <a:t>Third level</a:t>
            </a:r>
          </a:p>
          <a:p>
            <a:pPr lvl="3" rtl="0"/>
            <a:r>
              <a:rPr lang="en-GB"/>
              <a:t>Fourth level</a:t>
            </a:r>
          </a:p>
          <a:p>
            <a:pPr lvl="4" rtl="0"/>
            <a:r>
              <a:rPr lang="en-GB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rtlCol="0"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 rt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 rtlCol="0"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 rtl="0"/>
            <a:r>
              <a:rPr lang="en-GB"/>
              <a:t>Click to edit Master text styles</a:t>
            </a:r>
          </a:p>
          <a:p>
            <a:pPr lvl="1" rtl="0"/>
            <a:r>
              <a:rPr lang="en-GB"/>
              <a:t>Second level</a:t>
            </a:r>
          </a:p>
          <a:p>
            <a:pPr lvl="2" rtl="0"/>
            <a:r>
              <a:rPr lang="en-GB"/>
              <a:t>Third level</a:t>
            </a:r>
          </a:p>
          <a:p>
            <a:pPr lvl="3" rtl="0"/>
            <a:r>
              <a:rPr lang="en-GB"/>
              <a:t>Fourth level</a:t>
            </a:r>
          </a:p>
          <a:p>
            <a:pPr lvl="4" rtl="0"/>
            <a:r>
              <a:rPr lang="en-GB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1/8/2016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1/8/2016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1/8/2016</a:t>
            </a:r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rtlCol="0"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en-GB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 rtlCol="0"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 rt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 rtlCol="0"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 rtl="0"/>
            <a:r>
              <a:rPr lang="en-GB"/>
              <a:t>Click to edit Master text styles</a:t>
            </a:r>
          </a:p>
          <a:p>
            <a:pPr lvl="1" rtl="0"/>
            <a:r>
              <a:rPr lang="en-GB"/>
              <a:t>Second level</a:t>
            </a:r>
          </a:p>
          <a:p>
            <a:pPr lvl="2" rtl="0"/>
            <a:r>
              <a:rPr lang="en-GB"/>
              <a:t>Third level</a:t>
            </a:r>
          </a:p>
          <a:p>
            <a:pPr lvl="3" rtl="0"/>
            <a:r>
              <a:rPr lang="en-GB"/>
              <a:t>Fourth level</a:t>
            </a:r>
          </a:p>
          <a:p>
            <a:pPr lvl="4" rtl="0"/>
            <a:r>
              <a:rPr lang="en-GB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1/8/2016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rtlCol="0"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en-GB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 rtlCol="0"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 rtl="0"/>
            <a:r>
              <a:rPr lang="en-GB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 rtlCol="0"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pPr rtl="0"/>
            <a:r>
              <a:rPr lang="en-GB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1/8/2016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 rtl="0"/>
            <a:r>
              <a:rPr lang="en-GB"/>
              <a:t>Click to edit Master text styles</a:t>
            </a:r>
          </a:p>
          <a:p>
            <a:pPr lvl="1" rtl="0"/>
            <a:r>
              <a:rPr lang="en-GB"/>
              <a:t>Second level</a:t>
            </a:r>
          </a:p>
          <a:p>
            <a:pPr lvl="2" rtl="0"/>
            <a:r>
              <a:rPr lang="en-GB"/>
              <a:t>Third level</a:t>
            </a:r>
          </a:p>
          <a:p>
            <a:pPr lvl="3" rtl="0"/>
            <a:r>
              <a:rPr lang="en-GB"/>
              <a:t>Fourth level</a:t>
            </a:r>
          </a:p>
          <a:p>
            <a:pPr lvl="4" rtl="0"/>
            <a:r>
              <a:rPr lang="en-GB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1/8/2016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 rtlCol="0"/>
          <a:lstStyle/>
          <a:p>
            <a:pPr rtl="0"/>
            <a:r>
              <a:rPr lang="en-GB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 rtlCol="0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 rtl="0"/>
            <a:r>
              <a:rPr lang="en-GB"/>
              <a:t>Click to edit Master text styles</a:t>
            </a:r>
          </a:p>
          <a:p>
            <a:pPr lvl="1" rtl="0"/>
            <a:r>
              <a:rPr lang="en-GB"/>
              <a:t>Second level</a:t>
            </a:r>
          </a:p>
          <a:p>
            <a:pPr lvl="2" rtl="0"/>
            <a:r>
              <a:rPr lang="en-GB"/>
              <a:t>Third level</a:t>
            </a:r>
          </a:p>
          <a:p>
            <a:pPr lvl="3" rtl="0"/>
            <a:r>
              <a:rPr lang="en-GB"/>
              <a:t>Fourth level</a:t>
            </a:r>
          </a:p>
          <a:p>
            <a:pPr lvl="4" rtl="0"/>
            <a:r>
              <a:rPr lang="en-GB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1/8/2016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eft lines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reeform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/>
            </a:p>
          </p:txBody>
        </p:sp>
        <p:sp>
          <p:nvSpPr>
            <p:cNvPr id="14" name="Freeform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pPr rtl="0"/>
            <a:r>
              <a:rPr lang="en-GB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 rtl="0"/>
            <a:r>
              <a:rPr lang="en-GB"/>
              <a:t>Click to edit Master text styles</a:t>
            </a:r>
          </a:p>
          <a:p>
            <a:pPr lvl="1" rtl="0"/>
            <a:r>
              <a:rPr lang="en-GB"/>
              <a:t>Second level</a:t>
            </a:r>
          </a:p>
          <a:p>
            <a:pPr lvl="2" rtl="0"/>
            <a:r>
              <a:rPr lang="en-GB"/>
              <a:t>Third level</a:t>
            </a:r>
          </a:p>
          <a:p>
            <a:pPr lvl="3" rtl="0"/>
            <a:r>
              <a:rPr lang="en-GB"/>
              <a:t>Fourth level</a:t>
            </a:r>
          </a:p>
          <a:p>
            <a:pPr lvl="4" rtl="0"/>
            <a:r>
              <a:rPr lang="en-GB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n-US"/>
              <a:t>1/8/2016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media2.m4a"/><Relationship Id="rId2" Type="http://schemas.microsoft.com/office/2007/relationships/media" Target="../media/media2.m4a"/><Relationship Id="rId1" Type="http://schemas.openxmlformats.org/officeDocument/2006/relationships/tags" Target="../tags/tag1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audio" Target="../media/media3.m4a"/><Relationship Id="rId7" Type="http://schemas.openxmlformats.org/officeDocument/2006/relationships/hyperlink" Target="https://medium.com/towards-data-science/what-is-artificial-intelligence-ai-ad5ba87b55dd" TargetMode="External"/><Relationship Id="rId2" Type="http://schemas.microsoft.com/office/2007/relationships/media" Target="../media/media3.m4a"/><Relationship Id="rId1" Type="http://schemas.openxmlformats.org/officeDocument/2006/relationships/tags" Target="../tags/tag2.xml"/><Relationship Id="rId6" Type="http://schemas.openxmlformats.org/officeDocument/2006/relationships/image" Target="../media/image2.jpg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media4.m4a"/><Relationship Id="rId7" Type="http://schemas.openxmlformats.org/officeDocument/2006/relationships/image" Target="../media/image1.png"/><Relationship Id="rId2" Type="http://schemas.microsoft.com/office/2007/relationships/media" Target="../media/media4.m4a"/><Relationship Id="rId1" Type="http://schemas.openxmlformats.org/officeDocument/2006/relationships/tags" Target="../tags/tag3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audio" Target="../media/media5.m4a"/><Relationship Id="rId7" Type="http://schemas.openxmlformats.org/officeDocument/2006/relationships/image" Target="../media/image1.png"/><Relationship Id="rId2" Type="http://schemas.microsoft.com/office/2007/relationships/media" Target="../media/media5.m4a"/><Relationship Id="rId1" Type="http://schemas.openxmlformats.org/officeDocument/2006/relationships/tags" Target="../tags/tag4.xml"/><Relationship Id="rId6" Type="http://schemas.openxmlformats.org/officeDocument/2006/relationships/hyperlink" Target="https://www.wallpaperflare.com/servers-connection-computer-science-technology-data-business-wallpaper-pavac/download/3840x2160" TargetMode="External"/><Relationship Id="rId5" Type="http://schemas.openxmlformats.org/officeDocument/2006/relationships/image" Target="../media/image5.jpg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rtlCol="0">
            <a:noAutofit/>
          </a:bodyPr>
          <a:lstStyle/>
          <a:p>
            <a:pPr algn="just"/>
            <a:r>
              <a:rPr lang="en-GB" sz="3600" dirty="0"/>
              <a:t>Challenges faced by non-native English speaking students in computer science education due to linguistic barriers</a:t>
            </a:r>
            <a:endParaRPr lang="en-gb" sz="3600" dirty="0"/>
          </a:p>
        </p:txBody>
      </p:sp>
      <p:sp>
        <p:nvSpPr>
          <p:cNvPr id="12" name="Subtitle 11">
            <a:extLst>
              <a:ext uri="{FF2B5EF4-FFF2-40B4-BE49-F238E27FC236}">
                <a16:creationId xmlns:a16="http://schemas.microsoft.com/office/drawing/2014/main" id="{5159C54D-68E4-671A-7A0B-045295BA899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Student urn: 6936865</a:t>
            </a:r>
            <a:endParaRPr lang="en-US" sz="2000" dirty="0"/>
          </a:p>
        </p:txBody>
      </p:sp>
      <p:pic>
        <p:nvPicPr>
          <p:cNvPr id="1204" name="Audio 1203">
            <a:extLst>
              <a:ext uri="{FF2B5EF4-FFF2-40B4-BE49-F238E27FC236}">
                <a16:creationId xmlns:a16="http://schemas.microsoft.com/office/drawing/2014/main" id="{003ABA91-D2A5-96CB-5A7F-57237D76494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160125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40567">
        <p:fade/>
      </p:transition>
    </mc:Choice>
    <mc:Fallback>
      <p:transition spd="med" advTm="40567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20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04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GB" dirty="0"/>
              <a:t>Why language matters in computer science ?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914161" y="1700808"/>
            <a:ext cx="10360501" cy="4462272"/>
          </a:xfrm>
        </p:spPr>
        <p:txBody>
          <a:bodyPr rtlCol="0"/>
          <a:lstStyle/>
          <a:p>
            <a:r>
              <a:rPr lang="en-GB" dirty="0"/>
              <a:t>Programming languages and materials are mostly in English</a:t>
            </a:r>
          </a:p>
          <a:p>
            <a:r>
              <a:rPr lang="en-GB" dirty="0"/>
              <a:t>Non-native English speakers must learn both computing and English</a:t>
            </a:r>
          </a:p>
          <a:p>
            <a:r>
              <a:rPr lang="en-GB" dirty="0"/>
              <a:t>Terminology, error messages, and documentation create extra barriers</a:t>
            </a:r>
          </a:p>
          <a:p>
            <a:r>
              <a:rPr lang="en-GB" dirty="0"/>
              <a:t>Research shows English proficiency strongly affects CS1 success</a:t>
            </a:r>
          </a:p>
          <a:p>
            <a:pPr marL="0" indent="0">
              <a:buNone/>
            </a:pPr>
            <a:r>
              <a:rPr lang="en-GB" dirty="0"/>
              <a:t> </a:t>
            </a:r>
            <a:endParaRPr lang="en-US" dirty="0"/>
          </a:p>
        </p:txBody>
      </p:sp>
      <p:pic>
        <p:nvPicPr>
          <p:cNvPr id="200" name="Audio 199">
            <a:extLst>
              <a:ext uri="{FF2B5EF4-FFF2-40B4-BE49-F238E27FC236}">
                <a16:creationId xmlns:a16="http://schemas.microsoft.com/office/drawing/2014/main" id="{797F16FE-117D-EB9D-11FB-D2F22E898BB6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160125" y="5829300"/>
            <a:ext cx="812800" cy="8128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291143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56946">
        <p:fade/>
      </p:transition>
    </mc:Choice>
    <mc:Fallback>
      <p:transition spd="med" advTm="5694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0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2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0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C9942760-2AA9-B4CC-A0CA-5DC5F8E510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218883" y="274637"/>
            <a:ext cx="10360501" cy="1223963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b" anchorCtr="0" compatLnSpc="1">
            <a:prstTxWarp prst="textNoShape">
              <a:avLst/>
            </a:prstTxWarp>
            <a:normAutofit/>
          </a:bodyPr>
          <a:lstStyle/>
          <a:p>
            <a:pPr lvl="0" defTabSz="914400" eaLnBrk="0" fontAlgn="base" hangingPunct="0">
              <a:spcAft>
                <a:spcPct val="0"/>
              </a:spcAft>
            </a:pPr>
            <a:r>
              <a:rPr lang="en-GB" dirty="0"/>
              <a:t>Linguistic barriers in learning programming</a:t>
            </a:r>
            <a:endParaRPr kumimoji="0" lang="en-US" altLang="en-US" b="0" i="0" u="none" strike="noStrike" cap="none" normalizeH="0" baseline="0">
              <a:ln>
                <a:noFill/>
              </a:ln>
              <a:effectLst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18A5F27-4341-25A6-5F04-490CF4F54E23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1218883" y="1706880"/>
            <a:ext cx="5078677" cy="446532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</a:rPr>
              <a:t>1. Technical Vocabulary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</a:rPr>
              <a:t>Keywords like 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effectLst/>
              </a:rPr>
              <a:t>return, while, else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</a:rPr>
              <a:t> don’t translate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</a:rPr>
              <a:t>Abbreviations and identifiers confuse NNES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</a:rPr>
              <a:t>2. Cognitive Overload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</a:rPr>
              <a:t>Students translate English → native language → code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</a:rPr>
              <a:t>Reduces available working memory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</a:rPr>
              <a:t>3. Communication Barriers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</a:rPr>
              <a:t>Students hesitate to ask questions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</a:rPr>
              <a:t>Fear of “wrong English” reduces engagement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pic>
        <p:nvPicPr>
          <p:cNvPr id="7" name="Picture 6" descr="A close-up of a face with numbers&#10;&#10;AI-generated content may be incorrect.">
            <a:extLst>
              <a:ext uri="{FF2B5EF4-FFF2-40B4-BE49-F238E27FC236}">
                <a16:creationId xmlns:a16="http://schemas.microsoft.com/office/drawing/2014/main" id="{69B2469B-85C9-5BCD-C98C-0F2E43E05D1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rcRect l="977" r="13718" b="-3"/>
          <a:stretch>
            <a:fillRect/>
          </a:stretch>
        </p:blipFill>
        <p:spPr>
          <a:xfrm>
            <a:off x="6500707" y="1706891"/>
            <a:ext cx="5078677" cy="4465297"/>
          </a:xfrm>
          <a:prstGeom prst="rect">
            <a:avLst/>
          </a:prstGeom>
          <a:noFill/>
        </p:spPr>
      </p:pic>
      <p:pic>
        <p:nvPicPr>
          <p:cNvPr id="71" name="Audio 70">
            <a:extLst>
              <a:ext uri="{FF2B5EF4-FFF2-40B4-BE49-F238E27FC236}">
                <a16:creationId xmlns:a16="http://schemas.microsoft.com/office/drawing/2014/main" id="{12534CAF-B763-6718-DC24-B273BDAA3FCA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1160125" y="5829300"/>
            <a:ext cx="812800" cy="8128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924767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56602">
        <p:fade/>
      </p:transition>
    </mc:Choice>
    <mc:Fallback>
      <p:transition spd="med" advTm="56602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5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1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A3F97-4621-7F4B-F86B-5D7E15B45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922115"/>
          </a:xfrm>
        </p:spPr>
        <p:txBody>
          <a:bodyPr/>
          <a:lstStyle/>
          <a:p>
            <a:pPr algn="just"/>
            <a:r>
              <a:rPr lang="en-GB" dirty="0"/>
              <a:t>Evidence from a multi-case study</a:t>
            </a:r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C888583-405C-1DE3-EDE7-A0A4B1407BA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18883" y="1351508"/>
            <a:ext cx="6099347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Study of 300+ CS1 students (China &amp; Saudi Arabia)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English skills strongly linked to CS1 performance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Students struggled with reading, terminology, error messages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50% reported general English difficulty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27% struggled with CS vocabulary</a:t>
            </a:r>
          </a:p>
        </p:txBody>
      </p:sp>
      <p:pic>
        <p:nvPicPr>
          <p:cNvPr id="7" name="Picture 6" descr="A graph of a number of text&#10;&#10;AI-generated content may be incorrect.">
            <a:extLst>
              <a:ext uri="{FF2B5EF4-FFF2-40B4-BE49-F238E27FC236}">
                <a16:creationId xmlns:a16="http://schemas.microsoft.com/office/drawing/2014/main" id="{2A28457F-ED96-1975-BCEC-BBBCA23F6BF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8587" y="274637"/>
            <a:ext cx="4274287" cy="3206114"/>
          </a:xfrm>
          <a:prstGeom prst="rect">
            <a:avLst/>
          </a:prstGeom>
        </p:spPr>
      </p:pic>
      <p:pic>
        <p:nvPicPr>
          <p:cNvPr id="9" name="Picture 8" descr="A white box with black text&#10;&#10;AI-generated content may be incorrect.">
            <a:extLst>
              <a:ext uri="{FF2B5EF4-FFF2-40B4-BE49-F238E27FC236}">
                <a16:creationId xmlns:a16="http://schemas.microsoft.com/office/drawing/2014/main" id="{44068E2F-A04C-48D0-52C8-5451974CF62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8587" y="3607991"/>
            <a:ext cx="4274287" cy="2975372"/>
          </a:xfrm>
          <a:prstGeom prst="rect">
            <a:avLst/>
          </a:prstGeom>
        </p:spPr>
      </p:pic>
      <p:pic>
        <p:nvPicPr>
          <p:cNvPr id="35" name="Audio 34">
            <a:extLst>
              <a:ext uri="{FF2B5EF4-FFF2-40B4-BE49-F238E27FC236}">
                <a16:creationId xmlns:a16="http://schemas.microsoft.com/office/drawing/2014/main" id="{2157FE1D-400E-58C6-ED32-8AFBB6526692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160125" y="5829300"/>
            <a:ext cx="812800" cy="8128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380005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43142">
        <p:fade/>
      </p:transition>
    </mc:Choice>
    <mc:Fallback>
      <p:transition spd="med" advTm="43142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000"/>
                            </p:stCondLst>
                            <p:childTnLst>
                              <p:par>
                                <p:cTn id="52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6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5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C69FE-D86D-EE80-85B1-DDC340AF9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706091"/>
          </a:xfrm>
        </p:spPr>
        <p:txBody>
          <a:bodyPr/>
          <a:lstStyle/>
          <a:p>
            <a:r>
              <a:rPr lang="en-GB" dirty="0"/>
              <a:t>Solutions for more inclusive CS education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E256537-A9C6-010C-41BB-E00EEDDA636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25860" y="1128264"/>
            <a:ext cx="5862952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Provide explicit teaching of CS terminology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Use bilingual glossaries and translated notes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Reduce cognitive load with visual or block programming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Allow small-group discussions in students’ native languages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Use inclusive, linguistically friendly teaching materials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+mj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46B522-8B5C-FD07-0AAC-2354993EA88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6988812" y="1402523"/>
            <a:ext cx="4622800" cy="286506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EAAF7C0-BBAE-CFA1-ECC5-36364439E85A}"/>
              </a:ext>
            </a:extLst>
          </p:cNvPr>
          <p:cNvSpPr txBox="1"/>
          <p:nvPr/>
        </p:nvSpPr>
        <p:spPr>
          <a:xfrm>
            <a:off x="1845940" y="5314237"/>
            <a:ext cx="86919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Making computer Science  linguistically accessible benefits all learners.</a:t>
            </a:r>
            <a:endParaRPr lang="en-US" sz="2800" dirty="0"/>
          </a:p>
        </p:txBody>
      </p:sp>
      <p:pic>
        <p:nvPicPr>
          <p:cNvPr id="31" name="Audio 30">
            <a:extLst>
              <a:ext uri="{FF2B5EF4-FFF2-40B4-BE49-F238E27FC236}">
                <a16:creationId xmlns:a16="http://schemas.microsoft.com/office/drawing/2014/main" id="{B82E468D-21D0-03AC-C0E4-1FE78E88341F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160125" y="5829300"/>
            <a:ext cx="812800" cy="812800"/>
          </a:xfrm>
          <a:prstGeom prst="rect">
            <a:avLst/>
          </a:prstGeom>
        </p:spPr>
      </p:pic>
      <p:pic>
        <p:nvPicPr>
          <p:cNvPr id="34" name="Camera 33">
            <a:extLst>
              <a:ext uri="{FF2B5EF4-FFF2-40B4-BE49-F238E27FC236}">
                <a16:creationId xmlns:a16="http://schemas.microsoft.com/office/drawing/2014/main" id="{4260ADA6-5A75-3230-B5D2-873469EF71EF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915525" y="8325544"/>
            <a:ext cx="2057400" cy="2057400"/>
          </a:xfrm>
          <a:prstGeom prst="ellipse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203813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67815">
        <p:fade/>
      </p:transition>
    </mc:Choice>
    <mc:Fallback>
      <p:transition spd="med" advTm="67815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8" dur="2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4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1"/>
                </p:tgtEl>
              </p:cMediaNode>
            </p:audio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9|3.7|47.5"/>
</p:tagLst>
</file>

<file path=ppt/theme/theme1.xml><?xml version="1.0" encoding="utf-8"?>
<a:theme xmlns:a="http://schemas.openxmlformats.org/drawingml/2006/main" name="Tech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16x9</Template>
  <TotalTime>162</TotalTime>
  <Words>220</Words>
  <Application>Microsoft Macintosh PowerPoint</Application>
  <PresentationFormat>Custom</PresentationFormat>
  <Paragraphs>43</Paragraphs>
  <Slides>5</Slides>
  <Notes>2</Notes>
  <HiddenSlides>0</HiddenSlides>
  <MMClips>5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Tech 16x9</vt:lpstr>
      <vt:lpstr>Challenges faced by non-native English speaking students in computer science education due to linguistic barriers</vt:lpstr>
      <vt:lpstr>Why language matters in computer science ?</vt:lpstr>
      <vt:lpstr>Linguistic barriers in learning programming</vt:lpstr>
      <vt:lpstr>Evidence from a multi-case study</vt:lpstr>
      <vt:lpstr>Solutions for more inclusive CS education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Hosseini Torkani, Rin (UG - Comp Sci &amp; Elec Eng)</dc:creator>
  <cp:lastModifiedBy>Hosseini Torkani, Rin (UG - Comp Sci &amp; Elec Eng)</cp:lastModifiedBy>
  <cp:revision>1</cp:revision>
  <dcterms:created xsi:type="dcterms:W3CDTF">2025-12-05T13:25:51Z</dcterms:created>
  <dcterms:modified xsi:type="dcterms:W3CDTF">2025-12-05T16:08:49Z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